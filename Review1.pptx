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64" r:id="rId3"/>
    <p:sldId id="271" r:id="rId4"/>
    <p:sldId id="267" r:id="rId5"/>
    <p:sldId id="274" r:id="rId6"/>
    <p:sldId id="266" r:id="rId7"/>
    <p:sldId id="259" r:id="rId8"/>
    <p:sldId id="257" r:id="rId9"/>
    <p:sldId id="258" r:id="rId10"/>
    <p:sldId id="270" r:id="rId11"/>
    <p:sldId id="269" r:id="rId12"/>
    <p:sldId id="268" r:id="rId13"/>
    <p:sldId id="260" r:id="rId14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94660"/>
  </p:normalViewPr>
  <p:slideViewPr>
    <p:cSldViewPr>
      <p:cViewPr>
        <p:scale>
          <a:sx n="66" d="100"/>
          <a:sy n="66" d="100"/>
        </p:scale>
        <p:origin x="1891" y="31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47D6D4-2B44-40E2-A859-65866EBF730B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4D4012-8440-4718-AEEA-4096D2897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644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6f327b7861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" name="Google Shape;128;g36f327b7861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967405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884760BE-0AF7-2D22-ECA4-AEF56960B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6f327b7861_1_2:notes">
            <a:extLst>
              <a:ext uri="{FF2B5EF4-FFF2-40B4-BE49-F238E27FC236}">
                <a16:creationId xmlns:a16="http://schemas.microsoft.com/office/drawing/2014/main" id="{D165669B-6108-7A3C-2DD4-A001672CDD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" name="Google Shape;128;g36f327b7861_1_2:notes">
            <a:extLst>
              <a:ext uri="{FF2B5EF4-FFF2-40B4-BE49-F238E27FC236}">
                <a16:creationId xmlns:a16="http://schemas.microsoft.com/office/drawing/2014/main" id="{0B509327-4F34-6DF6-9784-2A285A3674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578395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6f327b7861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" name="Google Shape;128;g36f327b7861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005271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796AFFBE-5839-0484-7B29-0F7C53DA0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6f327b7861_1_2:notes">
            <a:extLst>
              <a:ext uri="{FF2B5EF4-FFF2-40B4-BE49-F238E27FC236}">
                <a16:creationId xmlns:a16="http://schemas.microsoft.com/office/drawing/2014/main" id="{589D222E-F9E1-C84B-45D8-8C97316874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" name="Google Shape;128;g36f327b7861_1_2:notes">
            <a:extLst>
              <a:ext uri="{FF2B5EF4-FFF2-40B4-BE49-F238E27FC236}">
                <a16:creationId xmlns:a16="http://schemas.microsoft.com/office/drawing/2014/main" id="{F3E4F1A2-0B9B-9267-7553-D847575FD8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144150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6f327b7861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" name="Google Shape;128;g36f327b7861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92236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067049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0" y="1343025"/>
            <a:ext cx="1476375" cy="138112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0999" y="4495800"/>
            <a:ext cx="1476375" cy="18383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43175" y="405828"/>
            <a:ext cx="4691380" cy="7254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29319" y="6386289"/>
            <a:ext cx="216534" cy="281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3205098" y="3581400"/>
            <a:ext cx="5540755" cy="2837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10" dirty="0">
                <a:latin typeface="Times New Roman"/>
                <a:cs typeface="Times New Roman"/>
              </a:rPr>
              <a:t>Date</a:t>
            </a:r>
            <a:r>
              <a:rPr lang="en-US" sz="2000" b="1" spc="-1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:</a:t>
            </a:r>
            <a:r>
              <a:rPr lang="en-US" sz="2000" b="1" spc="-10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27.07.2026</a:t>
            </a:r>
            <a:endParaRPr lang="en-IN" sz="2000" spc="-1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endParaRPr lang="en-IN" sz="2000" b="1" spc="-1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endParaRPr lang="en-IN" sz="2000" b="1" spc="-1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sz="2000" b="1" spc="-10" dirty="0">
                <a:latin typeface="Times New Roman"/>
                <a:cs typeface="Times New Roman"/>
              </a:rPr>
              <a:t>Team Number : </a:t>
            </a:r>
            <a:r>
              <a:rPr lang="en-IN" sz="2000" spc="-10" dirty="0">
                <a:latin typeface="Times New Roman"/>
                <a:cs typeface="Times New Roman"/>
              </a:rPr>
              <a:t>A08</a:t>
            </a: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sz="2000" b="1" spc="-10" dirty="0">
                <a:latin typeface="Times New Roman"/>
                <a:cs typeface="Times New Roman"/>
              </a:rPr>
              <a:t>Team Guide : </a:t>
            </a:r>
            <a:r>
              <a:rPr lang="en-IN" sz="2000" spc="-10" dirty="0">
                <a:latin typeface="Times New Roman"/>
                <a:cs typeface="Times New Roman"/>
              </a:rPr>
              <a:t>Dr. P. S. Nandhini ASP/CSE</a:t>
            </a:r>
            <a:endParaRPr sz="2000" dirty="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Team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Members</a:t>
            </a:r>
            <a:r>
              <a:rPr lang="en-US" sz="2000" b="1" spc="-1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:</a:t>
            </a:r>
            <a:endParaRPr lang="en-US" sz="2000" b="1" spc="-10" dirty="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  <a:spcBef>
                <a:spcPts val="5"/>
              </a:spcBef>
            </a:pPr>
            <a:r>
              <a:rPr lang="en-IN" sz="2000" b="1" spc="-10" dirty="0">
                <a:latin typeface="Times New Roman"/>
                <a:cs typeface="Times New Roman"/>
              </a:rPr>
              <a:t>		</a:t>
            </a:r>
            <a:r>
              <a:rPr lang="en-IN" sz="2000" spc="-10" dirty="0">
                <a:latin typeface="Times New Roman"/>
                <a:cs typeface="Times New Roman"/>
              </a:rPr>
              <a:t>Athvaitha E(23CSR030)</a:t>
            </a:r>
          </a:p>
          <a:p>
            <a:pPr marL="13970">
              <a:lnSpc>
                <a:spcPct val="100000"/>
              </a:lnSpc>
              <a:spcBef>
                <a:spcPts val="5"/>
              </a:spcBef>
            </a:pPr>
            <a:r>
              <a:rPr lang="en-IN" sz="2000" spc="-10" dirty="0">
                <a:latin typeface="Times New Roman"/>
                <a:cs typeface="Times New Roman"/>
              </a:rPr>
              <a:t>		</a:t>
            </a:r>
            <a:r>
              <a:rPr lang="en-IN" sz="2000" spc="-10" dirty="0" err="1">
                <a:latin typeface="Times New Roman"/>
                <a:cs typeface="Times New Roman"/>
              </a:rPr>
              <a:t>Ashifa</a:t>
            </a:r>
            <a:r>
              <a:rPr lang="en-IN" sz="2000" spc="-10" dirty="0">
                <a:latin typeface="Times New Roman"/>
                <a:cs typeface="Times New Roman"/>
              </a:rPr>
              <a:t> K (23CSR024)</a:t>
            </a:r>
          </a:p>
          <a:p>
            <a:pPr marL="13970">
              <a:lnSpc>
                <a:spcPct val="100000"/>
              </a:lnSpc>
              <a:spcBef>
                <a:spcPts val="5"/>
              </a:spcBef>
            </a:pPr>
            <a:r>
              <a:rPr lang="en-IN" sz="2000" spc="-10" dirty="0">
                <a:latin typeface="Times New Roman"/>
                <a:cs typeface="Times New Roman"/>
              </a:rPr>
              <a:t>		</a:t>
            </a:r>
            <a:r>
              <a:rPr lang="en-IN" sz="2000" spc="-10" dirty="0" err="1">
                <a:latin typeface="Times New Roman"/>
                <a:cs typeface="Times New Roman"/>
              </a:rPr>
              <a:t>Agatheeshwaran</a:t>
            </a:r>
            <a:r>
              <a:rPr lang="en-IN" sz="2000" spc="-10" dirty="0">
                <a:latin typeface="Times New Roman"/>
                <a:cs typeface="Times New Roman"/>
              </a:rPr>
              <a:t> S V (23CSR014)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B35B09-C5FD-0EC1-E8EB-46316CB0500E}"/>
              </a:ext>
            </a:extLst>
          </p:cNvPr>
          <p:cNvSpPr txBox="1"/>
          <p:nvPr/>
        </p:nvSpPr>
        <p:spPr>
          <a:xfrm>
            <a:off x="3600787" y="489466"/>
            <a:ext cx="55407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22CSP72 – PROJECT WORK II PHASE 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2C564B-E500-C992-A42C-A5E97DD74060}"/>
              </a:ext>
            </a:extLst>
          </p:cNvPr>
          <p:cNvSpPr txBox="1"/>
          <p:nvPr/>
        </p:nvSpPr>
        <p:spPr>
          <a:xfrm>
            <a:off x="3402942" y="1336119"/>
            <a:ext cx="554075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Cross-Attention-Based Multimodal Framework For Hate Speech and Offensive Content Detection in Tamil and Telugu Memes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30D468F-37B1-7557-7579-85881BAE0F56}"/>
              </a:ext>
            </a:extLst>
          </p:cNvPr>
          <p:cNvSpPr txBox="1">
            <a:spLocks/>
          </p:cNvSpPr>
          <p:nvPr/>
        </p:nvSpPr>
        <p:spPr>
          <a:xfrm>
            <a:off x="3429000" y="304800"/>
            <a:ext cx="469138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r>
              <a:rPr lang="en-IN" dirty="0"/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266D2-BA56-9A1C-2D8F-7B75A6395ED5}"/>
              </a:ext>
            </a:extLst>
          </p:cNvPr>
          <p:cNvSpPr txBox="1"/>
          <p:nvPr/>
        </p:nvSpPr>
        <p:spPr>
          <a:xfrm>
            <a:off x="1143000" y="1166842"/>
            <a:ext cx="74676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memes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 images and text to express opinions, humour, emotions, and social messages, making them a widely used form of online communication.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memes contain hate speech, abusive language, sarcasm, and offensive content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can negatively impact individuals and online communities.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Detecting such content is challenging because its meaning depends on both the image and the text.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multilingual nature of memes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especially in regional languages like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Tamil and Telugu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increases the complexity of automated analysis, making offensive meme detection an important research area in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12841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A219D8F6-CDB4-70DC-F2B9-D13DEF895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2" name="Google Shape;132;g36f327b7861_1_2">
            <a:extLst>
              <a:ext uri="{FF2B5EF4-FFF2-40B4-BE49-F238E27FC236}">
                <a16:creationId xmlns:a16="http://schemas.microsoft.com/office/drawing/2014/main" id="{585B4F92-D526-D848-F278-0DABD0D40F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5723407"/>
              </p:ext>
            </p:extLst>
          </p:nvPr>
        </p:nvGraphicFramePr>
        <p:xfrm>
          <a:off x="844310" y="924149"/>
          <a:ext cx="8127761" cy="5305993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755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6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25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68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45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61671">
                  <a:extLst>
                    <a:ext uri="{9D8B030D-6E8A-4147-A177-3AD203B41FA5}">
                      <a16:colId xmlns:a16="http://schemas.microsoft.com/office/drawing/2014/main" val="769261874"/>
                    </a:ext>
                  </a:extLst>
                </a:gridCol>
              </a:tblGrid>
              <a:tr h="475546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600" b="1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600" b="1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600" b="1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600" b="1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600" b="1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 Used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600" b="1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Metrics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600" b="1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8696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Rahul Ponnusamy, et al.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Fuse-MD with 8-bit LLM quantization &amp; Macro-F1 calibration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Tamil 81.82%, Malayalam 90.10%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OCR spelling noise; Binary classification only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0465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Radhika Bohra, et al.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CLIP </a:t>
                      </a:r>
                      <a:r>
                        <a:rPr lang="en-IN" sz="1400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ViT</a:t>
                      </a: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MuRIL, XLM-</a:t>
                      </a:r>
                      <a:r>
                        <a:rPr lang="en-IN" sz="1400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RoBERTa</a:t>
                      </a: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N" sz="1400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mBERT</a:t>
                      </a: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ensemble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Multi-task Macro F1: 0.56-0.61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Lower performance on complex social contexts like sarcasm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7296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Asif Ekbal, et al.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Multi-Task Learning (MTL) with CLIP, UNITER, BERT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84%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Primarily high-resource English datasets; Binary classification only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94536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Jasraj Singh Sehmbey, et al.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Late-Fusion: Inception-ResNet-V2 + RoBERTa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55%, Macro F1 0.51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recall for offensive memes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348EE9DA-8BC0-502C-F840-448099D6E6E6}"/>
              </a:ext>
            </a:extLst>
          </p:cNvPr>
          <p:cNvSpPr txBox="1">
            <a:spLocks/>
          </p:cNvSpPr>
          <p:nvPr/>
        </p:nvSpPr>
        <p:spPr>
          <a:xfrm>
            <a:off x="3429000" y="304800"/>
            <a:ext cx="469138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r>
              <a:rPr lang="en-IN"/>
              <a:t>Literature Survey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0949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2" name="Google Shape;132;g36f327b7861_1_2"/>
          <p:cNvGraphicFramePr/>
          <p:nvPr>
            <p:extLst>
              <p:ext uri="{D42A27DB-BD31-4B8C-83A1-F6EECF244321}">
                <p14:modId xmlns:p14="http://schemas.microsoft.com/office/powerpoint/2010/main" val="2639080419"/>
              </p:ext>
            </p:extLst>
          </p:nvPr>
        </p:nvGraphicFramePr>
        <p:xfrm>
          <a:off x="844310" y="924149"/>
          <a:ext cx="8098300" cy="5245043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63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96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00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93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03610">
                  <a:extLst>
                    <a:ext uri="{9D8B030D-6E8A-4147-A177-3AD203B41FA5}">
                      <a16:colId xmlns:a16="http://schemas.microsoft.com/office/drawing/2014/main" val="769261874"/>
                    </a:ext>
                  </a:extLst>
                </a:gridCol>
              </a:tblGrid>
              <a:tr h="47554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IN" sz="1600" b="1" u="none" strike="noStrike" cap="none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Sno</a:t>
                      </a:r>
                      <a:endParaRPr lang="en-IN" sz="16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IN" sz="1600" b="1" u="none" strike="noStrike" cap="none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Author(s)</a:t>
                      </a:r>
                      <a:endParaRPr lang="en-IN" sz="16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IN" sz="1600" b="1" u="none" strike="noStrike" cap="none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Year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GB" sz="1600" b="1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</a:t>
                      </a:r>
                      <a:r>
                        <a:rPr lang="en-GB" sz="1600" b="1" u="none" strike="noStrike" cap="none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Used</a:t>
                      </a:r>
                      <a:endParaRPr lang="en-GB" sz="1600" b="1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600" b="1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Metrics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GB" sz="1600" b="1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8696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 </a:t>
                      </a:r>
                      <a:r>
                        <a:rPr lang="en-IN" sz="1400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Shahiki</a:t>
                      </a: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Tash, et al.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text classification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Binary F1-score 0.76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hyperparameter tuning; No ensemble learning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0465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Selam </a:t>
                      </a:r>
                      <a:r>
                        <a:rPr lang="en-IN" sz="1400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Abitte</a:t>
                      </a: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Kanta, et al.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SVM, RL, CNN with character N-gram TF-IDF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Weighted F1-score 0.77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to binary classification; Small dataset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7296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Kirti Kumari, et al.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iLSTM</a:t>
                      </a: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(Bidirectional LSTM)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Macro F1-score 84%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Struggles with code-mixed slang and class imbalance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94536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Ameer Hamza, et al.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VisualBERT</a:t>
                      </a: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with ResNeXT-152 Mask R-CNN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70.60%, F1-score 65.73%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large datasets; High computational resources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E30D468F-37B1-7557-7579-85881BAE0F56}"/>
              </a:ext>
            </a:extLst>
          </p:cNvPr>
          <p:cNvSpPr txBox="1">
            <a:spLocks/>
          </p:cNvSpPr>
          <p:nvPr/>
        </p:nvSpPr>
        <p:spPr>
          <a:xfrm>
            <a:off x="3429000" y="304800"/>
            <a:ext cx="469138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r>
              <a:rPr lang="en-IN"/>
              <a:t>Literature Survey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0377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6C1CEEEA-4EAE-718A-ED9D-2666315BB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2" name="Google Shape;132;g36f327b7861_1_2">
            <a:extLst>
              <a:ext uri="{FF2B5EF4-FFF2-40B4-BE49-F238E27FC236}">
                <a16:creationId xmlns:a16="http://schemas.microsoft.com/office/drawing/2014/main" id="{544E0C99-C269-7C28-33A9-1750B32DAE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4767466"/>
              </p:ext>
            </p:extLst>
          </p:nvPr>
        </p:nvGraphicFramePr>
        <p:xfrm>
          <a:off x="838200" y="1066800"/>
          <a:ext cx="8127761" cy="5576642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9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96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00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93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03610">
                  <a:extLst>
                    <a:ext uri="{9D8B030D-6E8A-4147-A177-3AD203B41FA5}">
                      <a16:colId xmlns:a16="http://schemas.microsoft.com/office/drawing/2014/main" val="769261874"/>
                    </a:ext>
                  </a:extLst>
                </a:gridCol>
              </a:tblGrid>
              <a:tr h="47554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IN" sz="1600" b="1" u="none" strike="noStrike" cap="none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Sno</a:t>
                      </a:r>
                      <a:endParaRPr lang="en-IN" sz="16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IN" sz="1600" b="1" u="none" strike="noStrike" cap="none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Author(s)</a:t>
                      </a:r>
                      <a:endParaRPr lang="en-IN" sz="16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IN" sz="1600" b="1" u="none" strike="noStrike" cap="none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Year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GB" sz="1600" b="1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</a:t>
                      </a:r>
                      <a:r>
                        <a:rPr lang="en-GB" sz="1600" b="1" u="none" strike="noStrike" cap="none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Used</a:t>
                      </a:r>
                      <a:endParaRPr lang="en-GB" sz="1600" b="1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600" b="1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Metrics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GB" sz="1600" b="1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8696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Shraman</a:t>
                      </a: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400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Pramanick</a:t>
                      </a: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et al.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DISARM with CLIP context encoders &amp; low-rank bilinear pooling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than existing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drops with unseen target entities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0465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Manoj Balaji J, et al.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ResNet-50 with transfer learning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 F1: 0.87, Test F1: 0.48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only image features; Struggles with sarcasm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7296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Shardul </a:t>
                      </a:r>
                      <a:r>
                        <a:rPr lang="en-IN" sz="1400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Suryawanshi</a:t>
                      </a: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et al.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Ensembled dual-encoders (</a:t>
                      </a:r>
                      <a:r>
                        <a:rPr lang="en-IN" sz="1400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mBERT</a:t>
                      </a: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en-IN" sz="1400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</a:t>
                      </a: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Weighted </a:t>
                      </a:r>
                      <a:r>
                        <a:rPr lang="en-IN" sz="1400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</a:t>
                      </a: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F1-score 0.55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 dataset; Code-mixed Tamil text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94536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Nikhil Kumar Ghanghor, et al.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BERT + pretrained CNNs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Tamil 75%, Malayalam 95%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Unimodal processing; Cannot fully understand memes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68B65E5E-66C0-8FD0-CB6E-81C07DC4CA7F}"/>
              </a:ext>
            </a:extLst>
          </p:cNvPr>
          <p:cNvSpPr txBox="1">
            <a:spLocks/>
          </p:cNvSpPr>
          <p:nvPr/>
        </p:nvSpPr>
        <p:spPr>
          <a:xfrm>
            <a:off x="3429000" y="304800"/>
            <a:ext cx="469138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r>
              <a:rPr lang="en-IN"/>
              <a:t>Literature Survey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9099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2" name="Google Shape;132;g36f327b7861_1_2"/>
          <p:cNvGraphicFramePr/>
          <p:nvPr>
            <p:extLst>
              <p:ext uri="{D42A27DB-BD31-4B8C-83A1-F6EECF244321}">
                <p14:modId xmlns:p14="http://schemas.microsoft.com/office/powerpoint/2010/main" val="763555298"/>
              </p:ext>
            </p:extLst>
          </p:nvPr>
        </p:nvGraphicFramePr>
        <p:xfrm>
          <a:off x="838200" y="1447800"/>
          <a:ext cx="8098300" cy="3750507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63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96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00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93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03610">
                  <a:extLst>
                    <a:ext uri="{9D8B030D-6E8A-4147-A177-3AD203B41FA5}">
                      <a16:colId xmlns:a16="http://schemas.microsoft.com/office/drawing/2014/main" val="769261874"/>
                    </a:ext>
                  </a:extLst>
                </a:gridCol>
              </a:tblGrid>
              <a:tr h="47554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IN" sz="1600" b="1" u="none" strike="noStrike" cap="none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Sno</a:t>
                      </a:r>
                      <a:endParaRPr lang="en-IN" sz="16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IN" sz="1600" b="1" u="none" strike="noStrike" cap="none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Author(s)</a:t>
                      </a:r>
                      <a:endParaRPr lang="en-IN" sz="16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IN" sz="1600" b="1" u="none" strike="noStrike" cap="none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Year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GB" sz="1600" b="1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</a:t>
                      </a:r>
                      <a:r>
                        <a:rPr lang="en-GB" sz="1600" b="1" u="none" strike="noStrike" cap="none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Used</a:t>
                      </a:r>
                      <a:endParaRPr lang="en-GB" sz="1600" b="1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600" b="1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Metrics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GB" sz="1600" b="1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8696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Shardul </a:t>
                      </a:r>
                      <a:r>
                        <a:rPr lang="en-IN" sz="1400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Suryawanshi</a:t>
                      </a: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et al.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baseline utilizing image classification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 52%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only images; Ignores text; Limited to Tamil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0465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Douwe Kiela, et al.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ResNet-152, CNN, BERT, Late Fusion, </a:t>
                      </a:r>
                      <a:r>
                        <a:rPr lang="en-IN" sz="1400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VisualBERT</a:t>
                      </a:r>
                      <a:endParaRPr lang="en-IN" sz="14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VisualBERT</a:t>
                      </a: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-COCO Accuracy 84.7%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Only English memes; Binary classification only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7296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Shardul </a:t>
                      </a:r>
                      <a:r>
                        <a:rPr lang="en-IN" sz="1400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Suryawanshi</a:t>
                      </a: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et al.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CNN (</a:t>
                      </a:r>
                      <a:r>
                        <a:rPr lang="en-IN" sz="1400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</a:t>
                      </a: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&amp; </a:t>
                      </a:r>
                      <a:r>
                        <a:rPr lang="en-IN" sz="1400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Troll precision 0.28-0.37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Imbalanced dataset; Poor troll identification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E30D468F-37B1-7557-7579-85881BAE0F56}"/>
              </a:ext>
            </a:extLst>
          </p:cNvPr>
          <p:cNvSpPr txBox="1">
            <a:spLocks/>
          </p:cNvSpPr>
          <p:nvPr/>
        </p:nvSpPr>
        <p:spPr>
          <a:xfrm>
            <a:off x="3429000" y="304800"/>
            <a:ext cx="469138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r>
              <a:rPr lang="en-IN"/>
              <a:t>Literature Survey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948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7AE49-49A9-86DA-CCD4-BC0A4F473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3300" y="366236"/>
            <a:ext cx="2667000" cy="492443"/>
          </a:xfrm>
        </p:spPr>
        <p:txBody>
          <a:bodyPr/>
          <a:lstStyle/>
          <a:p>
            <a:r>
              <a:rPr lang="en-IN" dirty="0"/>
              <a:t>Research Gap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CE64830-C508-B1EE-AB55-12CDBBC4BD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367776"/>
              </p:ext>
            </p:extLst>
          </p:nvPr>
        </p:nvGraphicFramePr>
        <p:xfrm>
          <a:off x="1104900" y="990600"/>
          <a:ext cx="7658100" cy="4941519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638300">
                  <a:extLst>
                    <a:ext uri="{9D8B030D-6E8A-4147-A177-3AD203B41FA5}">
                      <a16:colId xmlns:a16="http://schemas.microsoft.com/office/drawing/2014/main" val="3704129084"/>
                    </a:ext>
                  </a:extLst>
                </a:gridCol>
                <a:gridCol w="3467100">
                  <a:extLst>
                    <a:ext uri="{9D8B030D-6E8A-4147-A177-3AD203B41FA5}">
                      <a16:colId xmlns:a16="http://schemas.microsoft.com/office/drawing/2014/main" val="3940854957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361082823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Gap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Our Solution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5325766"/>
                  </a:ext>
                </a:extLst>
              </a:tr>
              <a:tr h="831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Language Limitation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Existing systems mainly focus on English datasets.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Context-aware analysis for Tamil and Telugu memes.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3518023"/>
                  </a:ext>
                </a:extLst>
              </a:tr>
              <a:tr h="1067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Binary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Most existing studies perform only binary classification.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Multi-task prediction of Sentiment, Sarcasm, Vulgarity, Abuse and Target.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6977189"/>
                  </a:ext>
                </a:extLst>
              </a:tr>
              <a:tr h="831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OCR Challenges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Stylized meme text often leads to OCR errors.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Gemini generates contextual descriptions combining OCR, caption and semantic understanding.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1854232"/>
                  </a:ext>
                </a:extLst>
              </a:tr>
              <a:tr h="831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Context Understanding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Existing models fail to understand implicit sarcasm and meme context.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XLM-RoBERTa learns from Gemini-generated contextual descriptions.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5077808"/>
                  </a:ext>
                </a:extLst>
              </a:tr>
              <a:tr h="672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Computational 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End-to-end multimodal models require high computational resources.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Text-based classification after Gemini preprocessing reduces complexity.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064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7097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76600" y="-152400"/>
            <a:ext cx="4572000" cy="602023"/>
          </a:xfrm>
          <a:prstGeom prst="rect">
            <a:avLst/>
          </a:prstGeom>
        </p:spPr>
        <p:txBody>
          <a:bodyPr vert="horz" wrap="square" lIns="0" tIns="19996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2600" spc="-20" dirty="0"/>
              <a:t>PROBLEM</a:t>
            </a:r>
            <a:r>
              <a:rPr lang="en-IN" sz="2600" spc="-200" dirty="0"/>
              <a:t> </a:t>
            </a:r>
            <a:r>
              <a:rPr lang="en-IN" sz="2600" spc="-10" dirty="0"/>
              <a:t>STATEMENT</a:t>
            </a:r>
            <a:endParaRPr sz="2600"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61C2B1-D3E0-319F-77DE-1D38FA830A07}"/>
              </a:ext>
            </a:extLst>
          </p:cNvPr>
          <p:cNvSpPr txBox="1"/>
          <p:nvPr/>
        </p:nvSpPr>
        <p:spPr>
          <a:xfrm>
            <a:off x="1219200" y="527379"/>
            <a:ext cx="792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 of Multimodal Hate Speech in Tamil and Telugu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3354F-ECE1-CC6E-C1C0-1E2BF589137E}"/>
              </a:ext>
            </a:extLst>
          </p:cNvPr>
          <p:cNvSpPr txBox="1"/>
          <p:nvPr/>
        </p:nvSpPr>
        <p:spPr>
          <a:xfrm>
            <a:off x="1441767" y="2092043"/>
            <a:ext cx="747966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Memes combine text and images, making harmful content harder to detect.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 often comes from how text and image work together, not from each alone.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Tamil and Telugu have complex grammar and scripts, challenging for AI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sarcasm, vulgarity, and targets requires deep cultural knowledge.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is not just hate/no-hate but involves multiple dimensions.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dimensions include abuse, target, vulgarity, sarcasm, and sentiment.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systems are urgently needed to moderate content in these languages.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D56194-B8DF-0C71-0106-EA380466F018}"/>
              </a:ext>
            </a:extLst>
          </p:cNvPr>
          <p:cNvSpPr txBox="1"/>
          <p:nvPr/>
        </p:nvSpPr>
        <p:spPr>
          <a:xfrm>
            <a:off x="685800" y="1155823"/>
            <a:ext cx="777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Hate speech detection has advanced for English but remains limited for South Asian languages like Tamil and Telugu.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43200" y="0"/>
            <a:ext cx="4691380" cy="622477"/>
          </a:xfrm>
          <a:prstGeom prst="rect">
            <a:avLst/>
          </a:prstGeom>
        </p:spPr>
        <p:txBody>
          <a:bodyPr vert="horz" wrap="square" lIns="0" tIns="128777" rIns="0" bIns="0" rtlCol="0">
            <a:spAutoFit/>
          </a:bodyPr>
          <a:lstStyle/>
          <a:p>
            <a:pPr marL="1174750">
              <a:lnSpc>
                <a:spcPct val="100000"/>
              </a:lnSpc>
              <a:spcBef>
                <a:spcPts val="125"/>
              </a:spcBef>
            </a:pPr>
            <a:r>
              <a:rPr lang="en-IN" dirty="0"/>
              <a:t>Objectives</a:t>
            </a: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B00449-3AE3-7462-1924-302801736ABB}"/>
              </a:ext>
            </a:extLst>
          </p:cNvPr>
          <p:cNvSpPr txBox="1"/>
          <p:nvPr/>
        </p:nvSpPr>
        <p:spPr>
          <a:xfrm>
            <a:off x="3024503" y="596340"/>
            <a:ext cx="42341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Aims of the Proposed Work 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801885-1AFD-716C-2126-1D99335C7C35}"/>
              </a:ext>
            </a:extLst>
          </p:cNvPr>
          <p:cNvSpPr txBox="1"/>
          <p:nvPr/>
        </p:nvSpPr>
        <p:spPr>
          <a:xfrm>
            <a:off x="1676400" y="2726254"/>
            <a:ext cx="72390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automated hate speech detection system for Tamil and Telugu memes.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Gemini 1.5 Flash Lite to generate contextual descriptions combining OCR, image caption and semantic understanding.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Fine-tune XLM-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Gemini-generated contextual descriptions. Perform multi-task classification for: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Sentiment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Sarcasm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Vulgarity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Abuse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Target Identification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contextual understanding while minimizing OCR-related 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errors.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Build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scalable framework for multilingual meme analysis.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332A48-FA2A-B40A-5F3D-E4E213931FA9}"/>
              </a:ext>
            </a:extLst>
          </p:cNvPr>
          <p:cNvSpPr txBox="1"/>
          <p:nvPr/>
        </p:nvSpPr>
        <p:spPr>
          <a:xfrm>
            <a:off x="762000" y="1279624"/>
            <a:ext cx="79838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aim is to develop an automated context-aware hate speech detection system that leverages Gemini-generated contextual descriptions and XLM-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sentiment, sarcasm, vulgarity, abuse, and target categories in Tamil and Telugu memes.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99035-E2DD-8FD2-CE6D-FAF39FFFC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152400"/>
            <a:ext cx="2286000" cy="492443"/>
          </a:xfrm>
        </p:spPr>
        <p:txBody>
          <a:bodyPr/>
          <a:lstStyle/>
          <a:p>
            <a:r>
              <a:rPr lang="en-IN" dirty="0"/>
              <a:t>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3293A1-FF6A-931D-6F47-09531260E5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143000"/>
            <a:ext cx="7956014" cy="501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631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8C705-135D-D4BA-2E6C-AB5BBA70B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04800"/>
            <a:ext cx="7162800" cy="492443"/>
          </a:xfrm>
        </p:spPr>
        <p:txBody>
          <a:bodyPr/>
          <a:lstStyle/>
          <a:p>
            <a:r>
              <a:rPr lang="en-IN" dirty="0"/>
              <a:t>Proposed Work with Planned Innovation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D7A1289-D672-BE27-F904-C2BD229B13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2025876"/>
              </p:ext>
            </p:extLst>
          </p:nvPr>
        </p:nvGraphicFramePr>
        <p:xfrm>
          <a:off x="1104900" y="990600"/>
          <a:ext cx="7581900" cy="2608326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621999">
                  <a:extLst>
                    <a:ext uri="{9D8B030D-6E8A-4147-A177-3AD203B41FA5}">
                      <a16:colId xmlns:a16="http://schemas.microsoft.com/office/drawing/2014/main" val="3704129084"/>
                    </a:ext>
                  </a:extLst>
                </a:gridCol>
                <a:gridCol w="3432601">
                  <a:extLst>
                    <a:ext uri="{9D8B030D-6E8A-4147-A177-3AD203B41FA5}">
                      <a16:colId xmlns:a16="http://schemas.microsoft.com/office/drawing/2014/main" val="3940854957"/>
                    </a:ext>
                  </a:extLst>
                </a:gridCol>
                <a:gridCol w="2527300">
                  <a:extLst>
                    <a:ext uri="{9D8B030D-6E8A-4147-A177-3AD203B41FA5}">
                      <a16:colId xmlns:a16="http://schemas.microsoft.com/office/drawing/2014/main" val="3610828231"/>
                    </a:ext>
                  </a:extLst>
                </a:gridCol>
              </a:tblGrid>
              <a:tr h="339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5325766"/>
                  </a:ext>
                </a:extLst>
              </a:tr>
              <a:tr h="5296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Stage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Gemini 1.5 Flash Lite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Generate OCR, Caption and Context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3518023"/>
                  </a:ext>
                </a:extLst>
              </a:tr>
              <a:tr h="6797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Stage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 Preprocessing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Clean and tokenize generated text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6977189"/>
                  </a:ext>
                </a:extLst>
              </a:tr>
              <a:tr h="5296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Stage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XLM-RoBERTa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Generate contextual embeddings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1854232"/>
                  </a:ext>
                </a:extLst>
              </a:tr>
              <a:tr h="5296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Stage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Multi-task Classification Heads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 Sentiment, Sarcasm, Vulgarity, Abuse and Target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507780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4180878-D8D7-E731-215A-6D5BD5CA4750}"/>
              </a:ext>
            </a:extLst>
          </p:cNvPr>
          <p:cNvSpPr txBox="1"/>
          <p:nvPr/>
        </p:nvSpPr>
        <p:spPr>
          <a:xfrm>
            <a:off x="1714500" y="4572000"/>
            <a:ext cx="67818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Context-aware meme understanding using Gemini.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contextual description combining OCR, caption and semantic meaning.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XLM-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multilingual representation learning.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Multi-task prediction of five labels.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A30FF2-9CE1-7998-27C8-739364B883D9}"/>
              </a:ext>
            </a:extLst>
          </p:cNvPr>
          <p:cNvSpPr txBox="1"/>
          <p:nvPr/>
        </p:nvSpPr>
        <p:spPr>
          <a:xfrm>
            <a:off x="1295400" y="4171890"/>
            <a:ext cx="25862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 Innovations</a:t>
            </a:r>
          </a:p>
        </p:txBody>
      </p:sp>
    </p:spTree>
    <p:extLst>
      <p:ext uri="{BB962C8B-B14F-4D97-AF65-F5344CB8AC3E}">
        <p14:creationId xmlns:p14="http://schemas.microsoft.com/office/powerpoint/2010/main" val="2413917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DE177-1E77-8D26-61C5-6ADD94C24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0" y="152400"/>
            <a:ext cx="4691380" cy="492443"/>
          </a:xfrm>
        </p:spPr>
        <p:txBody>
          <a:bodyPr/>
          <a:lstStyle/>
          <a:p>
            <a:r>
              <a:rPr lang="en-IN" dirty="0"/>
              <a:t>Modules of the Project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958014-D496-F33D-6277-10D6CB2535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020" y="683815"/>
            <a:ext cx="4800600" cy="605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216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25314-C00E-8D39-9D3E-21D958525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0" y="228600"/>
            <a:ext cx="1600200" cy="492443"/>
          </a:xfrm>
        </p:spPr>
        <p:txBody>
          <a:bodyPr/>
          <a:lstStyle/>
          <a:p>
            <a:r>
              <a:rPr lang="en-IN" dirty="0"/>
              <a:t>Novelty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DFCD79-9CFD-F356-BB19-2FB53482AA19}"/>
              </a:ext>
            </a:extLst>
          </p:cNvPr>
          <p:cNvSpPr txBox="1"/>
          <p:nvPr/>
        </p:nvSpPr>
        <p:spPr>
          <a:xfrm>
            <a:off x="1295400" y="1371600"/>
            <a:ext cx="70104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Gemini 1.5 Flash Lite</a:t>
            </a:r>
            <a:r>
              <a:rPr lang="en-IN" dirty="0"/>
              <a:t> generates a unified contextual description by combining OCR, image caption, and semantic understanding.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XLM-</a:t>
            </a:r>
            <a:r>
              <a:rPr lang="en-IN" b="1" dirty="0" err="1"/>
              <a:t>RoBERTa</a:t>
            </a:r>
            <a:r>
              <a:rPr lang="en-IN" dirty="0"/>
              <a:t> extracts multilingual contextual features from Gemini-generated text.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A </a:t>
            </a:r>
            <a:r>
              <a:rPr lang="en-IN" b="1" dirty="0"/>
              <a:t>single text-based pipeline</a:t>
            </a:r>
            <a:r>
              <a:rPr lang="en-IN" dirty="0"/>
              <a:t> eliminates the need for separate multimodal fusion during classification.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Multi-task learning</a:t>
            </a:r>
            <a:r>
              <a:rPr lang="en-IN" dirty="0"/>
              <a:t> simultaneously predicts Sentiment, Sarcasm, Vulgarity, Abuse, and Target Identification.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Provides an </a:t>
            </a:r>
            <a:r>
              <a:rPr lang="en-IN" b="1" dirty="0"/>
              <a:t>efficient and scalable framework</a:t>
            </a:r>
            <a:r>
              <a:rPr lang="en-IN" dirty="0"/>
              <a:t> for hate speech detection in Tamil and Telugu memes.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1957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1200</TotalTime>
  <Words>1148</Words>
  <Application>Microsoft Office PowerPoint</Application>
  <PresentationFormat>On-screen Show (4:3)</PresentationFormat>
  <Paragraphs>211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MT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Research Gap</vt:lpstr>
      <vt:lpstr>PROBLEM STATEMENT</vt:lpstr>
      <vt:lpstr>Objectives</vt:lpstr>
      <vt:lpstr>Architecture</vt:lpstr>
      <vt:lpstr>Proposed Work with Planned Innovation</vt:lpstr>
      <vt:lpstr>Modules of the Project</vt:lpstr>
      <vt:lpstr>Novelty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Athvaitha Eswaramoorthy</cp:lastModifiedBy>
  <cp:revision>20</cp:revision>
  <dcterms:created xsi:type="dcterms:W3CDTF">2026-04-28T09:54:59Z</dcterms:created>
  <dcterms:modified xsi:type="dcterms:W3CDTF">2026-07-27T06:35:57Z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2025-05-21T00:00:00Z</vt:filetime>
  </property>
  <property fmtid="{D5CDD505-2E9C-101B-9397-08002B2CF9AE}" pid="4" name="LastSaved">
    <vt:filetime>2026-04-28T00:00:00Z</vt:filetime>
  </property>
</Properties>
</file>